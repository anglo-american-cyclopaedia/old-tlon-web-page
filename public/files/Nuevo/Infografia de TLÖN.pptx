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5999738" cy="14400213"/>
  <p:notesSz cx="6858000" cy="9144000"/>
  <p:defaultTextStyle>
    <a:defPPr>
      <a:defRPr lang="es-CO"/>
    </a:defPPr>
    <a:lvl1pPr marL="0" algn="l" defTabSz="2418565" rtl="0" eaLnBrk="1" latinLnBrk="0" hangingPunct="1">
      <a:defRPr sz="4759" kern="1200">
        <a:solidFill>
          <a:schemeClr val="tx1"/>
        </a:solidFill>
        <a:latin typeface="+mn-lt"/>
        <a:ea typeface="+mn-ea"/>
        <a:cs typeface="+mn-cs"/>
      </a:defRPr>
    </a:lvl1pPr>
    <a:lvl2pPr marL="1209283" algn="l" defTabSz="2418565" rtl="0" eaLnBrk="1" latinLnBrk="0" hangingPunct="1">
      <a:defRPr sz="4759" kern="1200">
        <a:solidFill>
          <a:schemeClr val="tx1"/>
        </a:solidFill>
        <a:latin typeface="+mn-lt"/>
        <a:ea typeface="+mn-ea"/>
        <a:cs typeface="+mn-cs"/>
      </a:defRPr>
    </a:lvl2pPr>
    <a:lvl3pPr marL="2418565" algn="l" defTabSz="2418565" rtl="0" eaLnBrk="1" latinLnBrk="0" hangingPunct="1">
      <a:defRPr sz="4759" kern="1200">
        <a:solidFill>
          <a:schemeClr val="tx1"/>
        </a:solidFill>
        <a:latin typeface="+mn-lt"/>
        <a:ea typeface="+mn-ea"/>
        <a:cs typeface="+mn-cs"/>
      </a:defRPr>
    </a:lvl3pPr>
    <a:lvl4pPr marL="3627845" algn="l" defTabSz="2418565" rtl="0" eaLnBrk="1" latinLnBrk="0" hangingPunct="1">
      <a:defRPr sz="4759" kern="1200">
        <a:solidFill>
          <a:schemeClr val="tx1"/>
        </a:solidFill>
        <a:latin typeface="+mn-lt"/>
        <a:ea typeface="+mn-ea"/>
        <a:cs typeface="+mn-cs"/>
      </a:defRPr>
    </a:lvl4pPr>
    <a:lvl5pPr marL="4837128" algn="l" defTabSz="2418565" rtl="0" eaLnBrk="1" latinLnBrk="0" hangingPunct="1">
      <a:defRPr sz="4759" kern="1200">
        <a:solidFill>
          <a:schemeClr val="tx1"/>
        </a:solidFill>
        <a:latin typeface="+mn-lt"/>
        <a:ea typeface="+mn-ea"/>
        <a:cs typeface="+mn-cs"/>
      </a:defRPr>
    </a:lvl5pPr>
    <a:lvl6pPr marL="6046410" algn="l" defTabSz="2418565" rtl="0" eaLnBrk="1" latinLnBrk="0" hangingPunct="1">
      <a:defRPr sz="4759" kern="1200">
        <a:solidFill>
          <a:schemeClr val="tx1"/>
        </a:solidFill>
        <a:latin typeface="+mn-lt"/>
        <a:ea typeface="+mn-ea"/>
        <a:cs typeface="+mn-cs"/>
      </a:defRPr>
    </a:lvl6pPr>
    <a:lvl7pPr marL="7255693" algn="l" defTabSz="2418565" rtl="0" eaLnBrk="1" latinLnBrk="0" hangingPunct="1">
      <a:defRPr sz="4759" kern="1200">
        <a:solidFill>
          <a:schemeClr val="tx1"/>
        </a:solidFill>
        <a:latin typeface="+mn-lt"/>
        <a:ea typeface="+mn-ea"/>
        <a:cs typeface="+mn-cs"/>
      </a:defRPr>
    </a:lvl7pPr>
    <a:lvl8pPr marL="8464976" algn="l" defTabSz="2418565" rtl="0" eaLnBrk="1" latinLnBrk="0" hangingPunct="1">
      <a:defRPr sz="4759" kern="1200">
        <a:solidFill>
          <a:schemeClr val="tx1"/>
        </a:solidFill>
        <a:latin typeface="+mn-lt"/>
        <a:ea typeface="+mn-ea"/>
        <a:cs typeface="+mn-cs"/>
      </a:defRPr>
    </a:lvl8pPr>
    <a:lvl9pPr marL="9674258" algn="l" defTabSz="2418565" rtl="0" eaLnBrk="1" latinLnBrk="0" hangingPunct="1">
      <a:defRPr sz="4759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" d="100"/>
          <a:sy n="20" d="100"/>
        </p:scale>
        <p:origin x="1541" y="11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9967" y="2356703"/>
            <a:ext cx="26999804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7563446"/>
            <a:ext cx="26999804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7478F-84A1-4A5D-8B44-64DFF6476D5F}" type="datetimeFigureOut">
              <a:rPr lang="es-CO" smtClean="0"/>
              <a:t>15/12/2016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C3C35-2B10-4F4A-873C-F22DB86647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4625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7478F-84A1-4A5D-8B44-64DFF6476D5F}" type="datetimeFigureOut">
              <a:rPr lang="es-CO" smtClean="0"/>
              <a:t>15/12/2016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C3C35-2B10-4F4A-873C-F22DB86647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0496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2" y="3590055"/>
            <a:ext cx="31049774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2" y="9636811"/>
            <a:ext cx="31049774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7478F-84A1-4A5D-8B44-64DFF6476D5F}" type="datetimeFigureOut">
              <a:rPr lang="es-CO" smtClean="0"/>
              <a:t>15/12/2016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C3C35-2B10-4F4A-873C-F22DB86647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36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3833390"/>
            <a:ext cx="15299889" cy="913680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3833390"/>
            <a:ext cx="15299889" cy="913680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7478F-84A1-4A5D-8B44-64DFF6476D5F}" type="datetimeFigureOut">
              <a:rPr lang="es-CO" smtClean="0"/>
              <a:t>15/12/2016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C3C35-2B10-4F4A-873C-F22DB86647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89287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766679"/>
            <a:ext cx="31049774" cy="2783376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2" y="3530053"/>
            <a:ext cx="15229575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2" y="5260078"/>
            <a:ext cx="15229575" cy="773678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7" y="3530053"/>
            <a:ext cx="15304578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7" y="5260078"/>
            <a:ext cx="15304578" cy="773678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7478F-84A1-4A5D-8B44-64DFF6476D5F}" type="datetimeFigureOut">
              <a:rPr lang="es-CO" smtClean="0"/>
              <a:t>15/12/2016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C3C35-2B10-4F4A-873C-F22DB86647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09041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7478F-84A1-4A5D-8B44-64DFF6476D5F}" type="datetimeFigureOut">
              <a:rPr lang="es-CO" smtClean="0"/>
              <a:t>15/12/2016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C3C35-2B10-4F4A-873C-F22DB86647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7539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7478F-84A1-4A5D-8B44-64DFF6476D5F}" type="datetimeFigureOut">
              <a:rPr lang="es-CO" smtClean="0"/>
              <a:t>15/12/2016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C3C35-2B10-4F4A-873C-F22DB86647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6900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2" y="960014"/>
            <a:ext cx="11610852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2073365"/>
            <a:ext cx="18224867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2" y="4320064"/>
            <a:ext cx="11610852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7478F-84A1-4A5D-8B44-64DFF6476D5F}" type="datetimeFigureOut">
              <a:rPr lang="es-CO" smtClean="0"/>
              <a:t>15/12/2016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C3C35-2B10-4F4A-873C-F22DB86647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0473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2" y="960014"/>
            <a:ext cx="11610852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2073365"/>
            <a:ext cx="18224867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2" y="4320064"/>
            <a:ext cx="11610852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7478F-84A1-4A5D-8B44-64DFF6476D5F}" type="datetimeFigureOut">
              <a:rPr lang="es-CO" smtClean="0"/>
              <a:t>15/12/2016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C3C35-2B10-4F4A-873C-F22DB86647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9289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7478F-84A1-4A5D-8B44-64DFF6476D5F}" type="datetimeFigureOut">
              <a:rPr lang="es-CO" smtClean="0"/>
              <a:t>15/12/2016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C3C35-2B10-4F4A-873C-F22DB86647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03334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2" y="766678"/>
            <a:ext cx="7762444" cy="1220351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2" y="766678"/>
            <a:ext cx="22837334" cy="1220351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7478F-84A1-4A5D-8B44-64DFF6476D5F}" type="datetimeFigureOut">
              <a:rPr lang="es-CO" smtClean="0"/>
              <a:t>15/12/2016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C3C35-2B10-4F4A-873C-F22DB86647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7969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766679"/>
            <a:ext cx="31049774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3833390"/>
            <a:ext cx="31049774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13346865"/>
            <a:ext cx="8099941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7478F-84A1-4A5D-8B44-64DFF6476D5F}" type="datetimeFigureOut">
              <a:rPr lang="es-CO" smtClean="0"/>
              <a:t>15/12/2016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13346865"/>
            <a:ext cx="12149912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13346865"/>
            <a:ext cx="8099941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C3C35-2B10-4F4A-873C-F22DB866471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374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upo 37"/>
          <p:cNvGrpSpPr/>
          <p:nvPr/>
        </p:nvGrpSpPr>
        <p:grpSpPr>
          <a:xfrm>
            <a:off x="868680" y="1226343"/>
            <a:ext cx="34012664" cy="11811001"/>
            <a:chOff x="868680" y="1226343"/>
            <a:chExt cx="34012664" cy="11811001"/>
          </a:xfrm>
        </p:grpSpPr>
        <p:grpSp>
          <p:nvGrpSpPr>
            <p:cNvPr id="36" name="Grupo 35"/>
            <p:cNvGrpSpPr/>
            <p:nvPr/>
          </p:nvGrpSpPr>
          <p:grpSpPr>
            <a:xfrm>
              <a:off x="868680" y="1226343"/>
              <a:ext cx="34012664" cy="11811001"/>
              <a:chOff x="868680" y="1226343"/>
              <a:chExt cx="34012664" cy="11811001"/>
            </a:xfrm>
          </p:grpSpPr>
          <p:grpSp>
            <p:nvGrpSpPr>
              <p:cNvPr id="11" name="Grupo 10"/>
              <p:cNvGrpSpPr/>
              <p:nvPr/>
            </p:nvGrpSpPr>
            <p:grpSpPr>
              <a:xfrm>
                <a:off x="868680" y="1226343"/>
                <a:ext cx="34012664" cy="11811001"/>
                <a:chOff x="868680" y="1226343"/>
                <a:chExt cx="34012664" cy="11811001"/>
              </a:xfrm>
            </p:grpSpPr>
            <p:pic>
              <p:nvPicPr>
                <p:cNvPr id="1026" name="Picture 2" descr="http://www.tallerdelzorro.com.ar/wp-content/uploads/2016/08/306650090_827c037c81_o.jpg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467644" y="1226343"/>
                  <a:ext cx="33413700" cy="118110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4" name="CuadroTexto 3"/>
                <p:cNvSpPr txBox="1"/>
                <p:nvPr/>
              </p:nvSpPr>
              <p:spPr>
                <a:xfrm>
                  <a:off x="868680" y="3185160"/>
                  <a:ext cx="4526280" cy="6463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s-CO" sz="1800" dirty="0" smtClean="0">
                      <a:latin typeface="Garamond" panose="02020404030301010803" pitchFamily="18" charset="0"/>
                    </a:rPr>
                    <a:t>VISTA DESDE EL ESPEJO RECUERDO DE UQBAR</a:t>
                  </a:r>
                  <a:endParaRPr lang="es-CO" sz="1800" dirty="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6" name="CuadroTexto 5"/>
                <p:cNvSpPr txBox="1"/>
                <p:nvPr/>
              </p:nvSpPr>
              <p:spPr>
                <a:xfrm>
                  <a:off x="868680" y="4020234"/>
                  <a:ext cx="4526280" cy="92333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s-CO" sz="1800" dirty="0" smtClean="0">
                      <a:latin typeface="Garamond" panose="02020404030301010803" pitchFamily="18" charset="0"/>
                    </a:rPr>
                    <a:t>DESCUBRIMIENTO DE LA PÁGINA DEL LIBRO XLVI DE LA ENCICLOPEDIA ANGLO AMÉRICANA</a:t>
                  </a:r>
                  <a:endParaRPr lang="es-CO" sz="1800" dirty="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7" name="CuadroTexto 6"/>
                <p:cNvSpPr txBox="1"/>
                <p:nvPr/>
              </p:nvSpPr>
              <p:spPr>
                <a:xfrm>
                  <a:off x="868680" y="5132308"/>
                  <a:ext cx="4526280" cy="6463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s-CO" sz="1800" dirty="0" smtClean="0">
                      <a:latin typeface="Garamond" panose="02020404030301010803" pitchFamily="18" charset="0"/>
                    </a:rPr>
                    <a:t>DESCUBRIMIENTO DEL LIBRO  XI DE LA ENCICLOPEDIA DE TLÖN</a:t>
                  </a:r>
                  <a:endParaRPr lang="es-CO" sz="1800" dirty="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8" name="CuadroTexto 7"/>
                <p:cNvSpPr txBox="1"/>
                <p:nvPr/>
              </p:nvSpPr>
              <p:spPr>
                <a:xfrm>
                  <a:off x="868680" y="7786300"/>
                  <a:ext cx="4526280" cy="6463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s-CO" sz="1800" dirty="0" smtClean="0">
                      <a:latin typeface="Garamond" panose="02020404030301010803" pitchFamily="18" charset="0"/>
                    </a:rPr>
                    <a:t>DESCUBRIMIENTO CARTA MANUSCRITA</a:t>
                  </a:r>
                </a:p>
                <a:p>
                  <a:endParaRPr lang="es-CO" sz="1800" dirty="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10" name="CuadroTexto 9"/>
                <p:cNvSpPr txBox="1"/>
                <p:nvPr/>
              </p:nvSpPr>
              <p:spPr>
                <a:xfrm>
                  <a:off x="883920" y="8432631"/>
                  <a:ext cx="4526280" cy="92333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s-CO" sz="1800" dirty="0" smtClean="0">
                      <a:latin typeface="Garamond" panose="02020404030301010803" pitchFamily="18" charset="0"/>
                    </a:rPr>
                    <a:t>DESCUBRIMIENTO DEL OBJETO MISTERIOSO</a:t>
                  </a:r>
                </a:p>
                <a:p>
                  <a:endParaRPr lang="es-CO" sz="1800" dirty="0"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5" name="Rectángulo 4"/>
                <p:cNvSpPr/>
                <p:nvPr/>
              </p:nvSpPr>
              <p:spPr>
                <a:xfrm>
                  <a:off x="25580659" y="9686776"/>
                  <a:ext cx="5188901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s-CO" sz="1800" b="1" dirty="0" smtClean="0">
                      <a:solidFill>
                        <a:srgbClr val="222222"/>
                      </a:solidFill>
                      <a:latin typeface="Garamond" panose="02020404030301010803" pitchFamily="18" charset="0"/>
                    </a:rPr>
                    <a:t>PUNTOS </a:t>
                  </a:r>
                  <a:r>
                    <a:rPr lang="es-CO" sz="1800" b="1" i="0" dirty="0" smtClean="0">
                      <a:solidFill>
                        <a:srgbClr val="222222"/>
                      </a:solidFill>
                      <a:effectLst/>
                      <a:latin typeface="Garamond" panose="02020404030301010803" pitchFamily="18" charset="0"/>
                    </a:rPr>
                    <a:t>DE INFLEXIÓN DE LA NARRATIVA</a:t>
                  </a:r>
                  <a:endParaRPr lang="es-CO" sz="1800" b="1" i="0" dirty="0">
                    <a:solidFill>
                      <a:srgbClr val="777777"/>
                    </a:solidFill>
                    <a:effectLst/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12" name="Rectángulo 11"/>
                <p:cNvSpPr/>
                <p:nvPr/>
              </p:nvSpPr>
              <p:spPr>
                <a:xfrm>
                  <a:off x="25580658" y="11820376"/>
                  <a:ext cx="5188901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s-CO" sz="1800" b="1" dirty="0" smtClean="0">
                      <a:solidFill>
                        <a:srgbClr val="222222"/>
                      </a:solidFill>
                      <a:latin typeface="Garamond" panose="02020404030301010803" pitchFamily="18" charset="0"/>
                    </a:rPr>
                    <a:t>PUNTO ENTRE DOS MUNDOS</a:t>
                  </a:r>
                  <a:endParaRPr lang="es-CO" sz="1800" b="1" i="0" dirty="0">
                    <a:solidFill>
                      <a:srgbClr val="777777"/>
                    </a:solidFill>
                    <a:effectLst/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13" name="Rectángulo 12"/>
                <p:cNvSpPr/>
                <p:nvPr/>
              </p:nvSpPr>
              <p:spPr>
                <a:xfrm>
                  <a:off x="25580657" y="10753576"/>
                  <a:ext cx="5188901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s-CO" sz="1800" b="1" dirty="0" smtClean="0">
                      <a:solidFill>
                        <a:srgbClr val="222222"/>
                      </a:solidFill>
                      <a:latin typeface="Garamond" panose="02020404030301010803" pitchFamily="18" charset="0"/>
                    </a:rPr>
                    <a:t>DESCUBRIMIENTO NARRATIVO</a:t>
                  </a:r>
                  <a:endParaRPr lang="es-CO" sz="1800" b="1" i="0" dirty="0">
                    <a:solidFill>
                      <a:srgbClr val="777777"/>
                    </a:solidFill>
                    <a:effectLst/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14" name="Rectángulo 13"/>
                <p:cNvSpPr/>
                <p:nvPr/>
              </p:nvSpPr>
              <p:spPr>
                <a:xfrm>
                  <a:off x="25545018" y="10242560"/>
                  <a:ext cx="5188901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s-CO" sz="1800" b="1" dirty="0" smtClean="0">
                      <a:solidFill>
                        <a:srgbClr val="222222"/>
                      </a:solidFill>
                      <a:latin typeface="Garamond" panose="02020404030301010803" pitchFamily="18" charset="0"/>
                    </a:rPr>
                    <a:t>PROCESO DE CREACIÓN</a:t>
                  </a:r>
                  <a:endParaRPr lang="es-CO" sz="1800" b="1" i="0" dirty="0">
                    <a:solidFill>
                      <a:srgbClr val="777777"/>
                    </a:solidFill>
                    <a:effectLst/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15" name="Rectángulo 14"/>
                <p:cNvSpPr/>
                <p:nvPr/>
              </p:nvSpPr>
              <p:spPr>
                <a:xfrm>
                  <a:off x="25585579" y="11264592"/>
                  <a:ext cx="5188901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s-CO" sz="1800" b="1" dirty="0" smtClean="0">
                      <a:solidFill>
                        <a:srgbClr val="222222"/>
                      </a:solidFill>
                      <a:latin typeface="Garamond" panose="02020404030301010803" pitchFamily="18" charset="0"/>
                    </a:rPr>
                    <a:t>FRONTERA DE LOS MUNDOS</a:t>
                  </a:r>
                  <a:endParaRPr lang="es-CO" sz="1800" b="1" i="0" dirty="0">
                    <a:solidFill>
                      <a:srgbClr val="777777"/>
                    </a:solidFill>
                    <a:effectLst/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16" name="Rectángulo 15"/>
                <p:cNvSpPr/>
                <p:nvPr/>
              </p:nvSpPr>
              <p:spPr>
                <a:xfrm>
                  <a:off x="22420819" y="9717256"/>
                  <a:ext cx="1551701" cy="37954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s-CO" sz="1800" b="1" dirty="0" smtClean="0">
                      <a:solidFill>
                        <a:srgbClr val="222222"/>
                      </a:solidFill>
                      <a:latin typeface="Garamond" panose="02020404030301010803" pitchFamily="18" charset="0"/>
                    </a:rPr>
                    <a:t>PERSONA</a:t>
                  </a:r>
                  <a:endParaRPr lang="es-CO" sz="1800" b="1" i="0" dirty="0">
                    <a:solidFill>
                      <a:srgbClr val="777777"/>
                    </a:solidFill>
                    <a:effectLst/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17" name="Rectángulo 16"/>
                <p:cNvSpPr/>
                <p:nvPr/>
              </p:nvSpPr>
              <p:spPr>
                <a:xfrm>
                  <a:off x="22420818" y="10743366"/>
                  <a:ext cx="1551701" cy="37954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s-CO" sz="1800" b="1" dirty="0" smtClean="0">
                      <a:solidFill>
                        <a:srgbClr val="222222"/>
                      </a:solidFill>
                      <a:latin typeface="Garamond" panose="02020404030301010803" pitchFamily="18" charset="0"/>
                    </a:rPr>
                    <a:t>OBJETO</a:t>
                  </a:r>
                  <a:endParaRPr lang="es-CO" sz="1800" b="1" i="0" dirty="0">
                    <a:solidFill>
                      <a:srgbClr val="777777"/>
                    </a:solidFill>
                    <a:effectLst/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18" name="Rectángulo 17"/>
                <p:cNvSpPr/>
                <p:nvPr/>
              </p:nvSpPr>
              <p:spPr>
                <a:xfrm>
                  <a:off x="20211019" y="9721527"/>
                  <a:ext cx="1658381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s-CO" sz="1800" b="1" dirty="0" smtClean="0">
                      <a:solidFill>
                        <a:srgbClr val="222222"/>
                      </a:solidFill>
                      <a:latin typeface="Garamond" panose="02020404030301010803" pitchFamily="18" charset="0"/>
                    </a:rPr>
                    <a:t>CREADORES</a:t>
                  </a:r>
                  <a:endParaRPr lang="es-CO" sz="1800" b="1" i="0" dirty="0">
                    <a:solidFill>
                      <a:srgbClr val="777777"/>
                    </a:solidFill>
                    <a:effectLst/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19" name="Rectángulo 18"/>
                <p:cNvSpPr/>
                <p:nvPr/>
              </p:nvSpPr>
              <p:spPr>
                <a:xfrm>
                  <a:off x="20211018" y="10743366"/>
                  <a:ext cx="1658381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s-CO" sz="1800" b="1" dirty="0" smtClean="0">
                      <a:solidFill>
                        <a:srgbClr val="222222"/>
                      </a:solidFill>
                      <a:latin typeface="Garamond" panose="02020404030301010803" pitchFamily="18" charset="0"/>
                    </a:rPr>
                    <a:t>CONCEPTOS</a:t>
                  </a:r>
                  <a:endParaRPr lang="es-CO" sz="1800" b="1" i="0" dirty="0">
                    <a:solidFill>
                      <a:srgbClr val="777777"/>
                    </a:solidFill>
                    <a:effectLst/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20" name="Rectángulo 19"/>
                <p:cNvSpPr/>
                <p:nvPr/>
              </p:nvSpPr>
              <p:spPr>
                <a:xfrm>
                  <a:off x="20437556" y="10018008"/>
                  <a:ext cx="1658381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s-CO" sz="1600" dirty="0" smtClean="0">
                      <a:solidFill>
                        <a:srgbClr val="222222"/>
                      </a:solidFill>
                      <a:latin typeface="Garamond" panose="02020404030301010803" pitchFamily="18" charset="0"/>
                    </a:rPr>
                    <a:t>Borges</a:t>
                  </a:r>
                  <a:endParaRPr lang="es-CO" sz="1600" i="0" dirty="0">
                    <a:solidFill>
                      <a:srgbClr val="777777"/>
                    </a:solidFill>
                    <a:effectLst/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21" name="Rectángulo 20"/>
                <p:cNvSpPr/>
                <p:nvPr/>
              </p:nvSpPr>
              <p:spPr>
                <a:xfrm>
                  <a:off x="20437555" y="10314489"/>
                  <a:ext cx="1658381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s-CO" sz="1600" dirty="0" smtClean="0">
                      <a:solidFill>
                        <a:srgbClr val="222222"/>
                      </a:solidFill>
                      <a:latin typeface="Garamond" panose="02020404030301010803" pitchFamily="18" charset="0"/>
                    </a:rPr>
                    <a:t>Orbis </a:t>
                  </a:r>
                  <a:r>
                    <a:rPr lang="es-CO" sz="1600" dirty="0">
                      <a:solidFill>
                        <a:srgbClr val="222222"/>
                      </a:solidFill>
                      <a:latin typeface="Garamond" panose="02020404030301010803" pitchFamily="18" charset="0"/>
                    </a:rPr>
                    <a:t>T</a:t>
                  </a:r>
                  <a:r>
                    <a:rPr lang="es-CO" sz="1600" dirty="0" smtClean="0">
                      <a:solidFill>
                        <a:srgbClr val="222222"/>
                      </a:solidFill>
                      <a:latin typeface="Garamond" panose="02020404030301010803" pitchFamily="18" charset="0"/>
                    </a:rPr>
                    <a:t>ertius</a:t>
                  </a:r>
                  <a:endParaRPr lang="es-CO" sz="1600" i="0" dirty="0">
                    <a:solidFill>
                      <a:srgbClr val="777777"/>
                    </a:solidFill>
                    <a:effectLst/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22" name="Rectángulo 21"/>
                <p:cNvSpPr/>
                <p:nvPr/>
              </p:nvSpPr>
              <p:spPr>
                <a:xfrm>
                  <a:off x="22621954" y="10012793"/>
                  <a:ext cx="1658381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s-CO" sz="1600" dirty="0" smtClean="0">
                      <a:solidFill>
                        <a:srgbClr val="222222"/>
                      </a:solidFill>
                      <a:latin typeface="Garamond" panose="02020404030301010803" pitchFamily="18" charset="0"/>
                    </a:rPr>
                    <a:t>narrador</a:t>
                  </a:r>
                  <a:endParaRPr lang="es-CO" sz="1600" i="0" dirty="0">
                    <a:solidFill>
                      <a:srgbClr val="777777"/>
                    </a:solidFill>
                    <a:effectLst/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23" name="Rectángulo 22"/>
                <p:cNvSpPr/>
                <p:nvPr/>
              </p:nvSpPr>
              <p:spPr>
                <a:xfrm>
                  <a:off x="22621954" y="10292640"/>
                  <a:ext cx="1658381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s-CO" sz="1600" dirty="0" smtClean="0">
                      <a:solidFill>
                        <a:srgbClr val="222222"/>
                      </a:solidFill>
                      <a:latin typeface="Garamond" panose="02020404030301010803" pitchFamily="18" charset="0"/>
                    </a:rPr>
                    <a:t>lector</a:t>
                  </a:r>
                  <a:endParaRPr lang="es-CO" sz="1600" i="0" dirty="0">
                    <a:solidFill>
                      <a:srgbClr val="777777"/>
                    </a:solidFill>
                    <a:effectLst/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24" name="Rectángulo 23"/>
                <p:cNvSpPr/>
                <p:nvPr/>
              </p:nvSpPr>
              <p:spPr>
                <a:xfrm>
                  <a:off x="20437554" y="11067296"/>
                  <a:ext cx="1658381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s-CO" sz="1600" dirty="0" smtClean="0">
                      <a:solidFill>
                        <a:srgbClr val="222222"/>
                      </a:solidFill>
                      <a:latin typeface="Garamond" panose="02020404030301010803" pitchFamily="18" charset="0"/>
                    </a:rPr>
                    <a:t>literatura</a:t>
                  </a:r>
                  <a:endParaRPr lang="es-CO" sz="1600" i="0" dirty="0">
                    <a:solidFill>
                      <a:srgbClr val="777777"/>
                    </a:solidFill>
                    <a:effectLst/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25" name="Rectángulo 24"/>
                <p:cNvSpPr/>
                <p:nvPr/>
              </p:nvSpPr>
              <p:spPr>
                <a:xfrm>
                  <a:off x="20427076" y="11307599"/>
                  <a:ext cx="1658381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s-CO" sz="1600" dirty="0" smtClean="0">
                      <a:solidFill>
                        <a:srgbClr val="222222"/>
                      </a:solidFill>
                      <a:latin typeface="Garamond" panose="02020404030301010803" pitchFamily="18" charset="0"/>
                    </a:rPr>
                    <a:t>tiempo</a:t>
                  </a:r>
                  <a:endParaRPr lang="es-CO" sz="1600" i="0" dirty="0">
                    <a:solidFill>
                      <a:srgbClr val="777777"/>
                    </a:solidFill>
                    <a:effectLst/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26" name="Rectángulo 25"/>
                <p:cNvSpPr/>
                <p:nvPr/>
              </p:nvSpPr>
              <p:spPr>
                <a:xfrm>
                  <a:off x="20427075" y="11567190"/>
                  <a:ext cx="1658381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s-CO" sz="1600" dirty="0" smtClean="0">
                      <a:solidFill>
                        <a:srgbClr val="222222"/>
                      </a:solidFill>
                      <a:latin typeface="Garamond" panose="02020404030301010803" pitchFamily="18" charset="0"/>
                    </a:rPr>
                    <a:t>materialismo</a:t>
                  </a:r>
                  <a:endParaRPr lang="es-CO" sz="1600" i="0" dirty="0">
                    <a:solidFill>
                      <a:srgbClr val="777777"/>
                    </a:solidFill>
                    <a:effectLst/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27" name="Rectángulo 26"/>
                <p:cNvSpPr/>
                <p:nvPr/>
              </p:nvSpPr>
              <p:spPr>
                <a:xfrm>
                  <a:off x="20437554" y="11805592"/>
                  <a:ext cx="1658381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s-CO" sz="1600" dirty="0" smtClean="0">
                      <a:solidFill>
                        <a:srgbClr val="222222"/>
                      </a:solidFill>
                      <a:latin typeface="Garamond" panose="02020404030301010803" pitchFamily="18" charset="0"/>
                    </a:rPr>
                    <a:t>geometría</a:t>
                  </a:r>
                  <a:endParaRPr lang="es-CO" sz="1600" i="0" dirty="0">
                    <a:solidFill>
                      <a:srgbClr val="777777"/>
                    </a:solidFill>
                    <a:effectLst/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28" name="Rectángulo 27"/>
                <p:cNvSpPr/>
                <p:nvPr/>
              </p:nvSpPr>
              <p:spPr>
                <a:xfrm>
                  <a:off x="22634654" y="11056660"/>
                  <a:ext cx="1658381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s-CO" sz="1600" dirty="0" smtClean="0">
                      <a:solidFill>
                        <a:srgbClr val="222222"/>
                      </a:solidFill>
                      <a:latin typeface="Garamond" panose="02020404030301010803" pitchFamily="18" charset="0"/>
                    </a:rPr>
                    <a:t>historia</a:t>
                  </a:r>
                  <a:endParaRPr lang="es-CO" sz="1600" i="0" dirty="0">
                    <a:solidFill>
                      <a:srgbClr val="777777"/>
                    </a:solidFill>
                    <a:effectLst/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29" name="Rectángulo 28"/>
                <p:cNvSpPr/>
                <p:nvPr/>
              </p:nvSpPr>
              <p:spPr>
                <a:xfrm>
                  <a:off x="22643780" y="11294899"/>
                  <a:ext cx="1658381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s-CO" sz="1600" dirty="0" smtClean="0">
                      <a:solidFill>
                        <a:srgbClr val="222222"/>
                      </a:solidFill>
                      <a:latin typeface="Garamond" panose="02020404030301010803" pitchFamily="18" charset="0"/>
                    </a:rPr>
                    <a:t>Libro XLVI</a:t>
                  </a:r>
                  <a:endParaRPr lang="es-CO" sz="1600" i="0" dirty="0">
                    <a:solidFill>
                      <a:srgbClr val="777777"/>
                    </a:solidFill>
                    <a:effectLst/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30" name="Rectángulo 29"/>
                <p:cNvSpPr/>
                <p:nvPr/>
              </p:nvSpPr>
              <p:spPr>
                <a:xfrm>
                  <a:off x="22634654" y="11540282"/>
                  <a:ext cx="1658381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s-CO" sz="1600" dirty="0" smtClean="0">
                      <a:solidFill>
                        <a:srgbClr val="222222"/>
                      </a:solidFill>
                      <a:latin typeface="Garamond" panose="02020404030301010803" pitchFamily="18" charset="0"/>
                    </a:rPr>
                    <a:t>Libro XI</a:t>
                  </a:r>
                  <a:endParaRPr lang="es-CO" sz="1600" i="0" dirty="0">
                    <a:solidFill>
                      <a:srgbClr val="777777"/>
                    </a:solidFill>
                    <a:effectLst/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31" name="Rectángulo 30"/>
                <p:cNvSpPr/>
                <p:nvPr/>
              </p:nvSpPr>
              <p:spPr>
                <a:xfrm>
                  <a:off x="22621954" y="11778521"/>
                  <a:ext cx="1658381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s-CO" sz="1600" dirty="0" smtClean="0">
                      <a:solidFill>
                        <a:srgbClr val="222222"/>
                      </a:solidFill>
                      <a:latin typeface="Garamond" panose="02020404030301010803" pitchFamily="18" charset="0"/>
                    </a:rPr>
                    <a:t>brújula</a:t>
                  </a:r>
                  <a:endParaRPr lang="es-CO" sz="1600" i="0" dirty="0">
                    <a:solidFill>
                      <a:srgbClr val="777777"/>
                    </a:solidFill>
                    <a:effectLst/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32" name="Rectángulo 31"/>
                <p:cNvSpPr/>
                <p:nvPr/>
              </p:nvSpPr>
              <p:spPr>
                <a:xfrm>
                  <a:off x="22643780" y="12023904"/>
                  <a:ext cx="1658381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s-CO" sz="1600" dirty="0" smtClean="0">
                      <a:solidFill>
                        <a:srgbClr val="222222"/>
                      </a:solidFill>
                      <a:latin typeface="Garamond" panose="02020404030301010803" pitchFamily="18" charset="0"/>
                    </a:rPr>
                    <a:t>cono</a:t>
                  </a:r>
                  <a:endParaRPr lang="es-CO" sz="1600" i="0" dirty="0">
                    <a:solidFill>
                      <a:srgbClr val="777777"/>
                    </a:solidFill>
                    <a:effectLst/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33" name="Rectángulo 32"/>
                <p:cNvSpPr/>
                <p:nvPr/>
              </p:nvSpPr>
              <p:spPr>
                <a:xfrm>
                  <a:off x="22643780" y="12285241"/>
                  <a:ext cx="1658381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s-CO" sz="1600" dirty="0" smtClean="0">
                      <a:solidFill>
                        <a:srgbClr val="222222"/>
                      </a:solidFill>
                      <a:latin typeface="Garamond" panose="02020404030301010803" pitchFamily="18" charset="0"/>
                    </a:rPr>
                    <a:t>enciclopedia</a:t>
                  </a:r>
                  <a:endParaRPr lang="es-CO" sz="1600" i="0" dirty="0">
                    <a:solidFill>
                      <a:srgbClr val="777777"/>
                    </a:solidFill>
                    <a:effectLst/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34" name="Rectángulo 33"/>
                <p:cNvSpPr/>
                <p:nvPr/>
              </p:nvSpPr>
              <p:spPr>
                <a:xfrm rot="2611727">
                  <a:off x="14448233" y="3015882"/>
                  <a:ext cx="1658381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s-CO" sz="1600" b="1" dirty="0" smtClean="0">
                      <a:solidFill>
                        <a:srgbClr val="222222"/>
                      </a:solidFill>
                      <a:latin typeface="Garamond" panose="02020404030301010803" pitchFamily="18" charset="0"/>
                    </a:rPr>
                    <a:t>TIERRA</a:t>
                  </a:r>
                  <a:endParaRPr lang="es-CO" sz="1600" b="1" i="0" dirty="0">
                    <a:solidFill>
                      <a:srgbClr val="777777"/>
                    </a:solidFill>
                    <a:effectLst/>
                    <a:latin typeface="Garamond" panose="02020404030301010803" pitchFamily="18" charset="0"/>
                  </a:endParaRPr>
                </a:p>
              </p:txBody>
            </p:sp>
            <p:sp>
              <p:nvSpPr>
                <p:cNvPr id="35" name="Rectángulo 34"/>
                <p:cNvSpPr/>
                <p:nvPr/>
              </p:nvSpPr>
              <p:spPr>
                <a:xfrm rot="2870073">
                  <a:off x="13189596" y="3681843"/>
                  <a:ext cx="2407849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s-CO" sz="1600" b="1" dirty="0" smtClean="0">
                      <a:solidFill>
                        <a:srgbClr val="222222"/>
                      </a:solidFill>
                      <a:latin typeface="Garamond" panose="02020404030301010803" pitchFamily="18" charset="0"/>
                    </a:rPr>
                    <a:t>MUNDO NARRATIVO</a:t>
                  </a:r>
                  <a:endParaRPr lang="es-CO" sz="1600" b="1" i="0" dirty="0">
                    <a:solidFill>
                      <a:srgbClr val="777777"/>
                    </a:solidFill>
                    <a:effectLst/>
                    <a:latin typeface="Garamond" panose="02020404030301010803" pitchFamily="18" charset="0"/>
                  </a:endParaRPr>
                </a:p>
              </p:txBody>
            </p:sp>
          </p:grpSp>
          <p:sp>
            <p:nvSpPr>
              <p:cNvPr id="37" name="Rectángulo 36"/>
              <p:cNvSpPr/>
              <p:nvPr/>
            </p:nvSpPr>
            <p:spPr>
              <a:xfrm>
                <a:off x="20532735" y="2080353"/>
                <a:ext cx="770295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endParaRPr lang="es-CO" sz="1600" i="0" dirty="0">
                  <a:solidFill>
                    <a:srgbClr val="777777"/>
                  </a:solidFill>
                  <a:effectLst/>
                  <a:latin typeface="Garamond" panose="02020404030301010803" pitchFamily="18" charset="0"/>
                </a:endParaRPr>
              </a:p>
            </p:txBody>
          </p:sp>
        </p:grpSp>
        <p:sp>
          <p:nvSpPr>
            <p:cNvPr id="39" name="Rectángulo 38"/>
            <p:cNvSpPr/>
            <p:nvPr/>
          </p:nvSpPr>
          <p:spPr>
            <a:xfrm rot="2249720">
              <a:off x="13694502" y="3637165"/>
              <a:ext cx="639804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s-CO" sz="200" b="1" dirty="0" smtClean="0">
                  <a:solidFill>
                    <a:srgbClr val="222222"/>
                  </a:solidFill>
                  <a:latin typeface="Garamond" panose="02020404030301010803" pitchFamily="18" charset="0"/>
                </a:rPr>
                <a:t> </a:t>
              </a:r>
              <a:endParaRPr lang="es-CO" sz="200" b="1" i="0" dirty="0">
                <a:solidFill>
                  <a:srgbClr val="777777"/>
                </a:solidFill>
                <a:effectLst/>
                <a:latin typeface="Garamond" panose="02020404030301010803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2646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5822</TotalTime>
  <Words>76</Words>
  <Application>Microsoft Office PowerPoint</Application>
  <PresentationFormat>Personalizado</PresentationFormat>
  <Paragraphs>31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Garamond</vt:lpstr>
      <vt:lpstr>Tema de Office</vt:lpstr>
      <vt:lpstr>Presentación de PowerPoint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Henry Zárate</dc:creator>
  <cp:lastModifiedBy>Henry Zárate</cp:lastModifiedBy>
  <cp:revision>9</cp:revision>
  <dcterms:created xsi:type="dcterms:W3CDTF">2016-12-15T18:54:42Z</dcterms:created>
  <dcterms:modified xsi:type="dcterms:W3CDTF">2016-12-19T19:57:31Z</dcterms:modified>
</cp:coreProperties>
</file>